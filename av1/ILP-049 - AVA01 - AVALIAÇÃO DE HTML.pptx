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notesMasterIdLst>
    <p:notesMasterId r:id="rId8"/>
  </p:notesMasterIdLst>
  <p:sldIdLst>
    <p:sldId id="256" r:id="rId2"/>
    <p:sldId id="271" r:id="rId3"/>
    <p:sldId id="497" r:id="rId4"/>
    <p:sldId id="380" r:id="rId5"/>
    <p:sldId id="293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694"/>
    <a:srgbClr val="812220"/>
    <a:srgbClr val="4F722B"/>
    <a:srgbClr val="942825"/>
    <a:srgbClr val="FEFFA1"/>
    <a:srgbClr val="CE7E00"/>
    <a:srgbClr val="CB7C00"/>
    <a:srgbClr val="D08200"/>
    <a:srgbClr val="D98800"/>
    <a:srgbClr val="1A0C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/>
    <p:restoredTop sz="95859"/>
  </p:normalViewPr>
  <p:slideViewPr>
    <p:cSldViewPr snapToGrid="0">
      <p:cViewPr varScale="1">
        <p:scale>
          <a:sx n="85" d="100"/>
          <a:sy n="85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9T17:19:5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24575,'32'0'0,"28"0"0,39 0 0,-33 0 0,1 0 0,-1 0 0,-2 0 0,-9 0 0,-5 0 0,19 0 0,-35 0 0,-12 0 0,-5 0 0,6 0 0,11 0 0,22 0 0,25 0 0,15-11 0,-44 0 0,0-4 0,-1-1 0,-2-3 0,37-19 0,-9 12 0,-10 14 0,-9 7 0,0 8 0,2 2 0,6 1 0,9-1 0,4-3 0,-2-2 0,-3 0 0,-8 0 0,-5 0 0,-3 7 0,-2 13 0,-1 9 0,-6 5 0,-4-7 0,-5-14 0,-2-7 0,4-11 0,3-9 0,6-6 0,4-4 0,0 5 0,0 8 0,-3 6 0,-6 11 0,1 13 0,-4 11 0,-3 7 0,-2-3 0,-3-14 0,0-9 0,2-12 0,0-11 0,0-5 0,4 1 0,3 6 0,4 6 0,3 8 0,0 7 0,-1 4 0,0 0 0,0-6 0,3-11 0,1-11 0,-2-7 0,-2 0 0,-6 7 0,-4 8 0,-2 4 0,-3 1 0,-1 0 0,0 0 0,3 0 0,8-2 0,9-8 0,8-6 0,5-1 0,-2 5 0,-6 7 0,-5 6 0,-8 3 0,-1 1 0,0 0 0,-2-2 0,0-6 0,1-2 0,2-3 0,11 1 0,13 2 0,13 5 0,13 3 0,2 0 0,-6 0 0,-17-2 0,-21-1 0,-11 0 0,0 0 0,16 2 0,21 2 0,14-1 0,0 0 0,-18-5 0,-24 0 0,-18-1 0,-12 1 0,-2 2 0,12 0 0,12 0 0,12 0 0,2 0 0,-6 0 0,-1 0 0,2 0 0,11 0 0,18 0 0,8-6 0,2-5 0,-13-4 0,-21-1 0,-14 7 0,-8 5 0,-2 7 0,5 8 0,-2 4 0,-4 2 0,-5-7 0,-8-5 0,2-4 0,6-5 0,10-5 0,9-6 0,5-3 0,0 5 0,-3 6 0,-8 5 0,-9 3 0,-8 5 0,-5 5 0,0 4 0,3 2 0,3 1 0,1-1 0,-2 0 0,-2 0 0,-6-5 0,-5-4 0,-5-5 0,-3-3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9T17:20:00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24575,'32'0'0,"28"0"0,39 0 0,-33 0 0,1 0 0,-1 0 0,-2 0 0,-9 0 0,-5 0 0,19 0 0,-35 0 0,-12 0 0,-5 0 0,6 0 0,11 0 0,22 0 0,25 0 0,15-11 0,-44 0 0,0-4 0,-1-1 0,-2-3 0,37-19 0,-9 12 0,-10 14 0,-9 7 0,0 8 0,2 2 0,6 1 0,9-1 0,4-3 0,-2-2 0,-3 0 0,-8 0 0,-5 0 0,-3 7 0,-2 13 0,-1 9 0,-6 5 0,-4-7 0,-5-14 0,-2-7 0,4-11 0,3-9 0,6-6 0,4-4 0,0 5 0,0 8 0,-3 6 0,-6 11 0,1 13 0,-4 11 0,-3 7 0,-2-3 0,-3-14 0,0-9 0,2-12 0,0-11 0,0-5 0,4 1 0,3 6 0,4 6 0,3 8 0,0 7 0,-1 4 0,0 0 0,0-6 0,3-11 0,1-11 0,-2-7 0,-2 0 0,-6 7 0,-4 8 0,-2 4 0,-3 1 0,-1 0 0,0 0 0,3 0 0,8-2 0,9-8 0,8-6 0,5-1 0,-2 5 0,-6 7 0,-5 6 0,-8 3 0,-1 1 0,0 0 0,-2-2 0,0-6 0,1-2 0,2-3 0,11 1 0,13 2 0,13 5 0,13 3 0,2 0 0,-6 0 0,-17-2 0,-21-1 0,-11 0 0,0 0 0,16 2 0,21 2 0,14-1 0,0 0 0,-18-5 0,-24 0 0,-18-1 0,-12 1 0,-2 2 0,12 0 0,12 0 0,12 0 0,2 0 0,-6 0 0,-1 0 0,2 0 0,11 0 0,18 0 0,8-6 0,2-5 0,-13-4 0,-21-1 0,-14 7 0,-8 5 0,-2 7 0,5 8 0,-2 4 0,-4 2 0,-5-7 0,-8-5 0,2-4 0,6-5 0,10-5 0,9-6 0,5-3 0,0 5 0,-3 6 0,-8 5 0,-9 3 0,-8 5 0,-5 5 0,0 4 0,3 2 0,3 1 0,1-1 0,-2 0 0,-2 0 0,-6-5 0,-5-4 0,-5-5 0,-3-3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9T17:21:54.670"/>
    </inkml:context>
    <inkml:brush xml:id="br0">
      <inkml:brushProperty name="width" value="0.05" units="cm"/>
      <inkml:brushProperty name="height" value="0.05" units="cm"/>
      <inkml:brushProperty name="color" value="#7F7F7F"/>
    </inkml:brush>
  </inkml:definitions>
  <inkml:trace contextRef="#ctx0" brushRef="#br0">1 153 24575,'32'0'0,"28"0"0,39 0 0,-33 0 0,1 0 0,-1 0 0,-2 0 0,-9 0 0,-5 0 0,19 0 0,-35 0 0,-12 0 0,-5 0 0,6 0 0,11 0 0,22 0 0,25 0 0,15-11 0,-44 0 0,0-4 0,-1-1 0,-2-3 0,37-19 0,-9 12 0,-10 14 0,-9 7 0,0 8 0,2 2 0,6 1 0,9-1 0,4-3 0,-2-2 0,-3 0 0,-8 0 0,-5 0 0,-3 7 0,-2 13 0,-1 9 0,-6 5 0,-4-7 0,-5-14 0,-2-7 0,4-11 0,3-9 0,6-6 0,4-4 0,0 5 0,0 8 0,-3 6 0,-6 11 0,1 13 0,-4 11 0,-3 7 0,-2-3 0,-3-14 0,0-9 0,2-12 0,0-11 0,0-5 0,4 1 0,3 6 0,4 6 0,3 8 0,0 7 0,-1 4 0,0 0 0,0-6 0,3-11 0,1-11 0,-2-7 0,-2 0 0,-6 7 0,-4 8 0,-2 4 0,-3 1 0,-1 0 0,0 0 0,3 0 0,8-2 0,9-8 0,8-6 0,5-1 0,-2 5 0,-6 7 0,-5 6 0,-8 3 0,-1 1 0,0 0 0,-2-2 0,0-6 0,1-2 0,2-3 0,11 1 0,13 2 0,13 5 0,13 3 0,2 0 0,-6 0 0,-17-2 0,-21-1 0,-11 0 0,0 0 0,16 2 0,21 2 0,14-1 0,0 0 0,-18-5 0,-24 0 0,-18-1 0,-12 1 0,-2 2 0,12 0 0,12 0 0,12 0 0,2 0 0,-6 0 0,-1 0 0,2 0 0,11 0 0,18 0 0,8-6 0,2-5 0,-13-4 0,-21-1 0,-14 7 0,-8 5 0,-2 7 0,5 8 0,-2 4 0,-4 2 0,-5-7 0,-8-5 0,2-4 0,6-5 0,10-5 0,9-6 0,5-3 0,0 5 0,-3 6 0,-8 5 0,-9 3 0,-8 5 0,-5 5 0,0 4 0,3 2 0,3 1 0,1-1 0,-2 0 0,-2 0 0,-6-5 0,-5-4 0,-5-5 0,-3-3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DAAC6-94C4-E94F-8AA3-17359D04E08E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93F-A30D-324F-AF4D-A71477E3CD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59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9A36-7A05-14C3-4863-C554504B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192BBD-9D8C-4DC5-4C83-C3A3AD89F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B39123-DC3B-736F-B0BA-20B3909A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27F28C-C69D-C452-2A24-199ACD5D44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1717F-5BCE-49DA-ADD9-3458C4DF392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28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81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8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98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5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430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5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2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8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70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2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97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default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BF2A2-540A-138F-ED68-0E4B0BF94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25" y="4602162"/>
            <a:ext cx="4298214" cy="1720850"/>
          </a:xfrm>
          <a:solidFill>
            <a:srgbClr val="FFC000"/>
          </a:solidFill>
          <a:ln w="19050"/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sz="3100" b="1" dirty="0">
                <a:latin typeface="Arial" panose="020B0604020202020204" pitchFamily="34" charset="0"/>
                <a:cs typeface="Arial" panose="020B0604020202020204" pitchFamily="34" charset="0"/>
              </a:rPr>
              <a:t>AVALIAÇÃO DE</a:t>
            </a:r>
            <a:br>
              <a:rPr lang="pt-BR" sz="3100" dirty="0"/>
            </a:br>
            <a:r>
              <a:rPr lang="pt-BR" sz="3600" b="1" dirty="0"/>
              <a:t>HTML5 </a:t>
            </a:r>
            <a:r>
              <a:rPr lang="pt-BR" sz="3600" dirty="0"/>
              <a:t>(Básico)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B10BC9-BB93-F3B3-3A4B-6A9ABD0DD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602163"/>
            <a:ext cx="5108013" cy="1720850"/>
          </a:xfrm>
        </p:spPr>
        <p:txBody>
          <a:bodyPr anchor="ctr">
            <a:normAutofit/>
          </a:bodyPr>
          <a:lstStyle/>
          <a:p>
            <a:pPr>
              <a:spcAft>
                <a:spcPts val="1200"/>
              </a:spcAft>
            </a:pPr>
            <a:r>
              <a:rPr lang="pt-BR" sz="2600" b="1" dirty="0"/>
              <a:t>FATEC-SP</a:t>
            </a:r>
          </a:p>
          <a:p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Profa. Elisabete da Silva Santos</a:t>
            </a:r>
            <a:endParaRPr lang="pt-BR" sz="2400" b="1" i="1" dirty="0"/>
          </a:p>
        </p:txBody>
      </p:sp>
      <p:pic>
        <p:nvPicPr>
          <p:cNvPr id="4" name="Picture 3" descr="Vista de cima da mesa de madeira com a planta, teclado branco, café em uma caneca branca, caderno de anotações e caneta">
            <a:extLst>
              <a:ext uri="{FF2B5EF4-FFF2-40B4-BE49-F238E27FC236}">
                <a16:creationId xmlns:a16="http://schemas.microsoft.com/office/drawing/2014/main" id="{9530BA73-83C9-A820-D97E-384794648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1" b="32385"/>
          <a:stretch/>
        </p:blipFill>
        <p:spPr>
          <a:xfrm>
            <a:off x="23" y="0"/>
            <a:ext cx="12191977" cy="40147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AE73FA1-2EC7-E453-9109-A663A0EEAC81}"/>
              </a:ext>
            </a:extLst>
          </p:cNvPr>
          <p:cNvSpPr txBox="1"/>
          <p:nvPr/>
        </p:nvSpPr>
        <p:spPr>
          <a:xfrm>
            <a:off x="508000" y="462769"/>
            <a:ext cx="1068550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FEFFA1"/>
                </a:solidFill>
              </a:rPr>
              <a:t>ILP-049 </a:t>
            </a:r>
            <a:r>
              <a:rPr lang="pt-BR" sz="4400" dirty="0"/>
              <a:t>-</a:t>
            </a:r>
            <a:r>
              <a:rPr lang="pt-BR" sz="4400" dirty="0">
                <a:solidFill>
                  <a:srgbClr val="FEFFA1"/>
                </a:solidFill>
              </a:rPr>
              <a:t> </a:t>
            </a:r>
            <a:r>
              <a:rPr lang="pt-BR" sz="4400" i="1" dirty="0"/>
              <a:t>Linguagem de Programação</a:t>
            </a:r>
          </a:p>
          <a:p>
            <a:pPr algn="ctr">
              <a:spcBef>
                <a:spcPts val="5400"/>
              </a:spcBef>
            </a:pPr>
            <a:r>
              <a:rPr lang="pt-BR" sz="4800" b="1" dirty="0">
                <a:solidFill>
                  <a:srgbClr val="FEFFA1"/>
                </a:solidFill>
              </a:rPr>
              <a:t>      </a:t>
            </a:r>
            <a:r>
              <a:rPr lang="pt-BR" sz="5000" b="1" dirty="0">
                <a:solidFill>
                  <a:srgbClr val="FEFFA1"/>
                </a:solidFill>
              </a:rPr>
              <a:t>Desenvolvimento de Sites     </a:t>
            </a:r>
          </a:p>
          <a:p>
            <a:pPr algn="ctr"/>
            <a:r>
              <a:rPr lang="pt-BR" sz="5000" b="1" dirty="0">
                <a:solidFill>
                  <a:srgbClr val="FEFFA1"/>
                </a:solidFill>
              </a:rPr>
              <a:t>     para a Internet</a:t>
            </a:r>
          </a:p>
        </p:txBody>
      </p:sp>
    </p:spTree>
    <p:extLst>
      <p:ext uri="{BB962C8B-B14F-4D97-AF65-F5344CB8AC3E}">
        <p14:creationId xmlns:p14="http://schemas.microsoft.com/office/powerpoint/2010/main" val="3121301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789B8E-F8A5-82A0-E6DD-CBCB716C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82" y="1097696"/>
            <a:ext cx="3826932" cy="4444158"/>
          </a:xfrm>
          <a:solidFill>
            <a:srgbClr val="812220"/>
          </a:solidFill>
          <a:ln>
            <a:noFill/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000" b="1" i="0" dirty="0">
                <a:solidFill>
                  <a:schemeClr val="bg1"/>
                </a:solidFill>
                <a:effectLst/>
              </a:rPr>
              <a:t>AVA</a:t>
            </a:r>
            <a:r>
              <a:rPr lang="en-US" sz="4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4000" b="1" i="1" dirty="0"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ED566A-4D72-6718-C4D8-A17EA98B57FD}"/>
              </a:ext>
            </a:extLst>
          </p:cNvPr>
          <p:cNvSpPr txBox="1"/>
          <p:nvPr/>
        </p:nvSpPr>
        <p:spPr>
          <a:xfrm>
            <a:off x="5420649" y="575582"/>
            <a:ext cx="5987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HTML5</a:t>
            </a:r>
            <a:endParaRPr lang="pt-BR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Verificação de conhecimentos adquiridos.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814F237-AC6C-5EC8-0582-70E918397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4449" y="2159071"/>
            <a:ext cx="3298807" cy="387161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200" b="1" dirty="0"/>
              <a:t>Estrutura Básica;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200" b="1" dirty="0"/>
              <a:t>Boxes semânticos;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200" b="1" dirty="0"/>
              <a:t>Títulos e subtítulos;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200" b="1" dirty="0"/>
              <a:t>Parágrafos;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200" b="1" dirty="0"/>
              <a:t>Listas;</a:t>
            </a:r>
          </a:p>
          <a:p>
            <a:endParaRPr lang="pt-BR" dirty="0"/>
          </a:p>
        </p:txBody>
      </p:sp>
      <p:sp>
        <p:nvSpPr>
          <p:cNvPr id="8" name="Espaço Reservado para Conteúdo 6">
            <a:extLst>
              <a:ext uri="{FF2B5EF4-FFF2-40B4-BE49-F238E27FC236}">
                <a16:creationId xmlns:a16="http://schemas.microsoft.com/office/drawing/2014/main" id="{8E8A37BA-CEF6-4971-AC27-67F6821E04EA}"/>
              </a:ext>
            </a:extLst>
          </p:cNvPr>
          <p:cNvSpPr txBox="1">
            <a:spLocks/>
          </p:cNvSpPr>
          <p:nvPr/>
        </p:nvSpPr>
        <p:spPr>
          <a:xfrm>
            <a:off x="8871865" y="2159071"/>
            <a:ext cx="2677874" cy="3871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pt-BR" sz="2200" b="1" dirty="0"/>
              <a:t>Imagens;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pt-BR" sz="2200" b="1" dirty="0"/>
              <a:t>Áudios;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pt-BR" sz="2200" b="1" dirty="0"/>
              <a:t>Vídeos;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pt-BR" sz="2200" b="1" dirty="0"/>
              <a:t>Iframes;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pt-BR" sz="2200" b="1" dirty="0"/>
              <a:t>Hiperlinks.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125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5FD9-B82D-FE77-1D5E-CDDC227F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0EB82-88FC-4F4C-0C88-1FB42C78B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027" y="1285322"/>
            <a:ext cx="8110331" cy="5454901"/>
          </a:xfrm>
          <a:solidFill>
            <a:schemeClr val="bg1"/>
          </a:solidFill>
          <a:ln w="19050">
            <a:solidFill>
              <a:schemeClr val="bg2"/>
            </a:solidFill>
          </a:ln>
        </p:spPr>
        <p:txBody>
          <a:bodyPr>
            <a:noAutofit/>
          </a:bodyPr>
          <a:lstStyle/>
          <a:p>
            <a:pPr marL="0" indent="0" algn="ctr">
              <a:lnSpc>
                <a:spcPct val="200000"/>
              </a:lnSpc>
              <a:spcBef>
                <a:spcPts val="2600"/>
              </a:spcBef>
              <a:buNone/>
            </a:pPr>
            <a:endParaRPr lang="pt-BR" i="1" dirty="0">
              <a:solidFill>
                <a:srgbClr val="00206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5EDF61-8F7D-795A-0DD9-36DD0B464AB3}"/>
              </a:ext>
            </a:extLst>
          </p:cNvPr>
          <p:cNvSpPr txBox="1"/>
          <p:nvPr/>
        </p:nvSpPr>
        <p:spPr>
          <a:xfrm>
            <a:off x="2078630" y="1559112"/>
            <a:ext cx="7637172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E84A0C-DBDC-2113-E0D0-6A2CF2ED6A74}"/>
              </a:ext>
            </a:extLst>
          </p:cNvPr>
          <p:cNvSpPr txBox="1"/>
          <p:nvPr/>
        </p:nvSpPr>
        <p:spPr>
          <a:xfrm>
            <a:off x="2862147" y="2642839"/>
            <a:ext cx="124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5BB96C4-F16C-1AEC-3DBD-6FEB2AE40EDE}"/>
              </a:ext>
            </a:extLst>
          </p:cNvPr>
          <p:cNvSpPr/>
          <p:nvPr/>
        </p:nvSpPr>
        <p:spPr>
          <a:xfrm>
            <a:off x="2222779" y="3099303"/>
            <a:ext cx="7272000" cy="2052000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  </a:t>
            </a:r>
            <a:r>
              <a:rPr lang="pt-BR" sz="1600" dirty="0">
                <a:solidFill>
                  <a:srgbClr val="812220"/>
                </a:solidFill>
              </a:rPr>
              <a:t>Box Principal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C54BB22-3A2A-7EAD-E37C-132EADF9F1ED}"/>
              </a:ext>
            </a:extLst>
          </p:cNvPr>
          <p:cNvSpPr/>
          <p:nvPr/>
        </p:nvSpPr>
        <p:spPr>
          <a:xfrm>
            <a:off x="2239926" y="5223253"/>
            <a:ext cx="7272000" cy="612000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      </a:t>
            </a:r>
            <a:r>
              <a:rPr lang="pt-BR" sz="1600" dirty="0">
                <a:solidFill>
                  <a:srgbClr val="035694"/>
                </a:solidFill>
              </a:rPr>
              <a:t>Box Secundário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ABDE9B3A-896C-F365-E25F-71A69E769299}"/>
                  </a:ext>
                </a:extLst>
              </p14:cNvPr>
              <p14:cNvContentPartPr/>
              <p14:nvPr/>
            </p14:nvContentPartPr>
            <p14:xfrm>
              <a:off x="4303239" y="3967476"/>
              <a:ext cx="2760120" cy="7812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ABDE9B3A-896C-F365-E25F-71A69E7692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4239" y="3958476"/>
                <a:ext cx="27777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18EBB88C-8B25-66D2-2370-A4D6A237C4AB}"/>
                  </a:ext>
                </a:extLst>
              </p14:cNvPr>
              <p14:cNvContentPartPr/>
              <p14:nvPr/>
            </p14:nvContentPartPr>
            <p14:xfrm>
              <a:off x="4320541" y="4139660"/>
              <a:ext cx="2760120" cy="7812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18EBB88C-8B25-66D2-2370-A4D6A237C4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1541" y="4130660"/>
                <a:ext cx="2777760" cy="9576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aixaDeTexto 24">
            <a:extLst>
              <a:ext uri="{FF2B5EF4-FFF2-40B4-BE49-F238E27FC236}">
                <a16:creationId xmlns:a16="http://schemas.microsoft.com/office/drawing/2014/main" id="{212167BF-FD61-05C5-9D08-4EC7E02DD260}"/>
              </a:ext>
            </a:extLst>
          </p:cNvPr>
          <p:cNvSpPr txBox="1"/>
          <p:nvPr/>
        </p:nvSpPr>
        <p:spPr>
          <a:xfrm>
            <a:off x="2302791" y="4415320"/>
            <a:ext cx="7092000" cy="61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DD9272E-3CD4-07FD-4438-2A3EBC1EA24C}"/>
              </a:ext>
            </a:extLst>
          </p:cNvPr>
          <p:cNvSpPr txBox="1"/>
          <p:nvPr/>
        </p:nvSpPr>
        <p:spPr>
          <a:xfrm>
            <a:off x="10190850" y="2016310"/>
            <a:ext cx="1610215" cy="3801041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</a:pP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FRAMEWARE</a:t>
            </a:r>
          </a:p>
          <a:p>
            <a:pPr algn="ctr">
              <a:spcBef>
                <a:spcPts val="400"/>
              </a:spcBef>
            </a:pPr>
            <a:r>
              <a:rPr lang="pt-BR" sz="1400" dirty="0"/>
              <a:t>(Desktop</a:t>
            </a: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ctr"/>
            <a:endParaRPr lang="pt-BR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800"/>
              </a:spcAft>
            </a:pPr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Legenda:</a:t>
            </a:r>
          </a:p>
          <a:p>
            <a:r>
              <a:rPr lang="pt-BR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semânticos;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Box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container;</a:t>
            </a:r>
          </a:p>
          <a:p>
            <a:r>
              <a:rPr lang="pt-BR" sz="1600" dirty="0"/>
              <a:t>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principal;</a:t>
            </a:r>
          </a:p>
          <a:p>
            <a:r>
              <a:rPr lang="pt-BR" sz="1600" dirty="0"/>
              <a:t>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secundário;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Outros</a:t>
            </a: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boxes...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78CF053A-2E12-99D6-95C2-7314D2273D48}"/>
              </a:ext>
            </a:extLst>
          </p:cNvPr>
          <p:cNvCxnSpPr/>
          <p:nvPr/>
        </p:nvCxnSpPr>
        <p:spPr>
          <a:xfrm>
            <a:off x="10363508" y="4152672"/>
            <a:ext cx="18535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58729FE1-E358-C858-AE0B-DD8BAFC59151}"/>
              </a:ext>
            </a:extLst>
          </p:cNvPr>
          <p:cNvCxnSpPr/>
          <p:nvPr/>
        </p:nvCxnSpPr>
        <p:spPr>
          <a:xfrm>
            <a:off x="10372981" y="4647808"/>
            <a:ext cx="18535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7D39308-BAD5-07A9-B8DC-5702D37EB077}"/>
              </a:ext>
            </a:extLst>
          </p:cNvPr>
          <p:cNvCxnSpPr>
            <a:cxnSpLocks/>
          </p:cNvCxnSpPr>
          <p:nvPr/>
        </p:nvCxnSpPr>
        <p:spPr>
          <a:xfrm>
            <a:off x="10374732" y="5132163"/>
            <a:ext cx="1836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46C2D19-B2DA-98E7-450B-EA625231245A}"/>
              </a:ext>
            </a:extLst>
          </p:cNvPr>
          <p:cNvSpPr txBox="1"/>
          <p:nvPr/>
        </p:nvSpPr>
        <p:spPr>
          <a:xfrm>
            <a:off x="5430328" y="3587897"/>
            <a:ext cx="9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Artigos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62BE2EDB-6F5D-3604-7F4E-F9C71D1B99FA}"/>
              </a:ext>
            </a:extLst>
          </p:cNvPr>
          <p:cNvCxnSpPr>
            <a:cxnSpLocks/>
          </p:cNvCxnSpPr>
          <p:nvPr/>
        </p:nvCxnSpPr>
        <p:spPr>
          <a:xfrm>
            <a:off x="10321907" y="3669795"/>
            <a:ext cx="287501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DE958EAB-81B1-2A37-35BC-8C8A7B4650C7}"/>
              </a:ext>
            </a:extLst>
          </p:cNvPr>
          <p:cNvSpPr txBox="1"/>
          <p:nvPr/>
        </p:nvSpPr>
        <p:spPr>
          <a:xfrm>
            <a:off x="0" y="-8738"/>
            <a:ext cx="12191999" cy="1080000"/>
          </a:xfrm>
          <a:prstGeom prst="rect">
            <a:avLst/>
          </a:prstGeom>
          <a:solidFill>
            <a:srgbClr val="812220"/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800" b="1" dirty="0"/>
              <a:t> </a:t>
            </a:r>
          </a:p>
          <a:p>
            <a:pPr algn="ctr"/>
            <a:r>
              <a:rPr lang="pt-BR" sz="3000" b="1" dirty="0">
                <a:solidFill>
                  <a:schemeClr val="bg1"/>
                </a:solidFill>
              </a:rPr>
              <a:t>FRAMEWARE</a:t>
            </a:r>
            <a:br>
              <a:rPr lang="pt-BR" sz="3000" dirty="0">
                <a:solidFill>
                  <a:schemeClr val="bg1"/>
                </a:solidFill>
              </a:rPr>
            </a:br>
            <a:endParaRPr lang="pt-BR" sz="200" b="1" dirty="0"/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221EB0E4-7A34-B413-DCF2-FFB1BD7CD2C2}"/>
              </a:ext>
            </a:extLst>
          </p:cNvPr>
          <p:cNvCxnSpPr/>
          <p:nvPr/>
        </p:nvCxnSpPr>
        <p:spPr>
          <a:xfrm>
            <a:off x="10321907" y="3154025"/>
            <a:ext cx="1853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346CFA6D-C20B-2B4F-9BA1-5D052633DE2B}"/>
              </a:ext>
            </a:extLst>
          </p:cNvPr>
          <p:cNvGrpSpPr/>
          <p:nvPr/>
        </p:nvGrpSpPr>
        <p:grpSpPr>
          <a:xfrm>
            <a:off x="2078630" y="1559113"/>
            <a:ext cx="7656103" cy="4952420"/>
            <a:chOff x="2078630" y="1559113"/>
            <a:chExt cx="7656103" cy="4952420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DD2121B-19CB-508C-5BEF-91E3CAED7E9D}"/>
                </a:ext>
              </a:extLst>
            </p:cNvPr>
            <p:cNvSpPr/>
            <p:nvPr/>
          </p:nvSpPr>
          <p:spPr>
            <a:xfrm>
              <a:off x="2078630" y="1559113"/>
              <a:ext cx="7637171" cy="6968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Título Principal</a:t>
              </a:r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72E729F0-02CA-1F88-428F-4DE0C831E200}"/>
                </a:ext>
              </a:extLst>
            </p:cNvPr>
            <p:cNvSpPr/>
            <p:nvPr/>
          </p:nvSpPr>
          <p:spPr>
            <a:xfrm>
              <a:off x="2082404" y="2323247"/>
              <a:ext cx="7637170" cy="5447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Lista não Ordenada contendo 4 links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7100B04-FEDA-EE8D-6123-86F4741602C8}"/>
                </a:ext>
              </a:extLst>
            </p:cNvPr>
            <p:cNvSpPr/>
            <p:nvPr/>
          </p:nvSpPr>
          <p:spPr>
            <a:xfrm>
              <a:off x="2097563" y="5971533"/>
              <a:ext cx="7637170" cy="54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Endereços/outras informações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1C0B07E-72F2-3EAE-255C-5D7DB98C9DCF}"/>
                    </a:ext>
                  </a:extLst>
                </p14:cNvPr>
                <p14:cNvContentPartPr/>
                <p14:nvPr/>
              </p14:nvContentPartPr>
              <p14:xfrm>
                <a:off x="4614561" y="6359179"/>
                <a:ext cx="2760120" cy="781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1C0B07E-72F2-3EAE-255C-5D7DB98C9D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05561" y="6350179"/>
                  <a:ext cx="2777760" cy="957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84392774-6301-B8A8-BF65-022E778C46C1}"/>
                </a:ext>
              </a:extLst>
            </p:cNvPr>
            <p:cNvSpPr txBox="1"/>
            <p:nvPr/>
          </p:nvSpPr>
          <p:spPr>
            <a:xfrm>
              <a:off x="2095193" y="2976857"/>
              <a:ext cx="7611590" cy="2916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endParaRPr lang="pt-BR" dirty="0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DBB9A9E-E66C-E9D8-9A05-1EACA68FB1D2}"/>
                </a:ext>
              </a:extLst>
            </p:cNvPr>
            <p:cNvSpPr txBox="1"/>
            <p:nvPr/>
          </p:nvSpPr>
          <p:spPr>
            <a:xfrm>
              <a:off x="2294603" y="3436399"/>
              <a:ext cx="7092000" cy="86400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pt-BR" dirty="0"/>
            </a:p>
          </p:txBody>
        </p:sp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738FFF19-6644-4AC1-10A8-E856C885195E}"/>
                </a:ext>
              </a:extLst>
            </p:cNvPr>
            <p:cNvGrpSpPr/>
            <p:nvPr/>
          </p:nvGrpSpPr>
          <p:grpSpPr>
            <a:xfrm>
              <a:off x="2524720" y="4523573"/>
              <a:ext cx="1043522" cy="475811"/>
              <a:chOff x="2397467" y="5109195"/>
              <a:chExt cx="1043522" cy="475811"/>
            </a:xfrm>
          </p:grpSpPr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D5559AF-A45E-57AE-3FDC-0497D2A123FF}"/>
                  </a:ext>
                </a:extLst>
              </p:cNvPr>
              <p:cNvSpPr txBox="1"/>
              <p:nvPr/>
            </p:nvSpPr>
            <p:spPr>
              <a:xfrm>
                <a:off x="2397467" y="5109195"/>
                <a:ext cx="1033346" cy="45897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err="1">
                    <a:solidFill>
                      <a:schemeClr val="bg1"/>
                    </a:solidFill>
                  </a:rPr>
                  <a:t>j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9" name="Conector Reto 38">
                <a:extLst>
                  <a:ext uri="{FF2B5EF4-FFF2-40B4-BE49-F238E27FC236}">
                    <a16:creationId xmlns:a16="http://schemas.microsoft.com/office/drawing/2014/main" id="{A66B63E7-6607-0F44-7A4D-B7DDF9008A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486" y="5116721"/>
                <a:ext cx="1033346" cy="468285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>
                <a:extLst>
                  <a:ext uri="{FF2B5EF4-FFF2-40B4-BE49-F238E27FC236}">
                    <a16:creationId xmlns:a16="http://schemas.microsoft.com/office/drawing/2014/main" id="{6E30266F-E634-6C5E-BB58-5F13FC61FE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07328" y="5111559"/>
                <a:ext cx="1033661" cy="43642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037C2B6-1424-60FF-4C6E-002A6679678E}"/>
                  </a:ext>
                </a:extLst>
              </p:cNvPr>
              <p:cNvSpPr txBox="1"/>
              <p:nvPr/>
            </p:nvSpPr>
            <p:spPr>
              <a:xfrm>
                <a:off x="2583180" y="5141334"/>
                <a:ext cx="5478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img</a:t>
                </a:r>
                <a:endParaRPr lang="pt-B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73" name="Agrupar 72">
              <a:extLst>
                <a:ext uri="{FF2B5EF4-FFF2-40B4-BE49-F238E27FC236}">
                  <a16:creationId xmlns:a16="http://schemas.microsoft.com/office/drawing/2014/main" id="{56E62ADA-2BE5-9943-20E7-4CABDEC1EC91}"/>
                </a:ext>
              </a:extLst>
            </p:cNvPr>
            <p:cNvGrpSpPr/>
            <p:nvPr/>
          </p:nvGrpSpPr>
          <p:grpSpPr>
            <a:xfrm>
              <a:off x="5838488" y="5478797"/>
              <a:ext cx="3083250" cy="338554"/>
              <a:chOff x="6733152" y="5346915"/>
              <a:chExt cx="3083250" cy="338554"/>
            </a:xfrm>
          </p:grpSpPr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0C16694F-3E8B-B28C-2D27-716E7C06FAE5}"/>
                  </a:ext>
                </a:extLst>
              </p:cNvPr>
              <p:cNvSpPr/>
              <p:nvPr/>
            </p:nvSpPr>
            <p:spPr>
              <a:xfrm>
                <a:off x="8056220" y="5364398"/>
                <a:ext cx="1760182" cy="252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6BBDB3A0-170D-4506-4254-F10A0FA95667}"/>
                  </a:ext>
                </a:extLst>
              </p:cNvPr>
              <p:cNvSpPr txBox="1"/>
              <p:nvPr/>
            </p:nvSpPr>
            <p:spPr>
              <a:xfrm>
                <a:off x="6733152" y="5346915"/>
                <a:ext cx="7956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áudio</a:t>
                </a:r>
              </a:p>
            </p:txBody>
          </p:sp>
        </p:grpSp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0A680823-64F5-C942-C15D-4E5E4E9E78E1}"/>
                </a:ext>
              </a:extLst>
            </p:cNvPr>
            <p:cNvGrpSpPr/>
            <p:nvPr/>
          </p:nvGrpSpPr>
          <p:grpSpPr>
            <a:xfrm>
              <a:off x="4320541" y="4516047"/>
              <a:ext cx="1043522" cy="475811"/>
              <a:chOff x="2397467" y="5109195"/>
              <a:chExt cx="1043522" cy="475811"/>
            </a:xfrm>
          </p:grpSpPr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F6CE96D5-6A34-C42A-2BC3-0FAC159B124F}"/>
                  </a:ext>
                </a:extLst>
              </p:cNvPr>
              <p:cNvSpPr txBox="1"/>
              <p:nvPr/>
            </p:nvSpPr>
            <p:spPr>
              <a:xfrm>
                <a:off x="2397467" y="5109195"/>
                <a:ext cx="1033346" cy="45897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err="1">
                    <a:solidFill>
                      <a:schemeClr val="bg1"/>
                    </a:solidFill>
                  </a:rPr>
                  <a:t>j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6" name="Conector Reto 75">
                <a:extLst>
                  <a:ext uri="{FF2B5EF4-FFF2-40B4-BE49-F238E27FC236}">
                    <a16:creationId xmlns:a16="http://schemas.microsoft.com/office/drawing/2014/main" id="{98C8A539-692D-AB57-C5BE-A111D5B93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486" y="5116721"/>
                <a:ext cx="1033346" cy="468285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to 76">
                <a:extLst>
                  <a:ext uri="{FF2B5EF4-FFF2-40B4-BE49-F238E27FC236}">
                    <a16:creationId xmlns:a16="http://schemas.microsoft.com/office/drawing/2014/main" id="{EA8B8457-0DFD-A54D-3B22-8AA02B1BE4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07328" y="5111559"/>
                <a:ext cx="1033661" cy="43642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EDD588DA-AAD6-68B7-3B12-AFB9AA317A52}"/>
                  </a:ext>
                </a:extLst>
              </p:cNvPr>
              <p:cNvSpPr txBox="1"/>
              <p:nvPr/>
            </p:nvSpPr>
            <p:spPr>
              <a:xfrm>
                <a:off x="2583180" y="5141334"/>
                <a:ext cx="5478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img</a:t>
                </a:r>
                <a:endParaRPr lang="pt-B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57D68B5F-C2B1-0822-92FB-11AD9ED3F814}"/>
                </a:ext>
              </a:extLst>
            </p:cNvPr>
            <p:cNvGrpSpPr/>
            <p:nvPr/>
          </p:nvGrpSpPr>
          <p:grpSpPr>
            <a:xfrm>
              <a:off x="6356215" y="4519903"/>
              <a:ext cx="1043522" cy="487241"/>
              <a:chOff x="2397467" y="5097765"/>
              <a:chExt cx="1043522" cy="487241"/>
            </a:xfrm>
          </p:grpSpPr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A794B224-FC95-03BB-81E8-48028FE58B9C}"/>
                  </a:ext>
                </a:extLst>
              </p:cNvPr>
              <p:cNvSpPr txBox="1"/>
              <p:nvPr/>
            </p:nvSpPr>
            <p:spPr>
              <a:xfrm>
                <a:off x="2397467" y="5097765"/>
                <a:ext cx="1033346" cy="45897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err="1">
                    <a:solidFill>
                      <a:schemeClr val="bg1"/>
                    </a:solidFill>
                  </a:rPr>
                  <a:t>j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1" name="Conector Reto 80">
                <a:extLst>
                  <a:ext uri="{FF2B5EF4-FFF2-40B4-BE49-F238E27FC236}">
                    <a16:creationId xmlns:a16="http://schemas.microsoft.com/office/drawing/2014/main" id="{2F6244D1-EEB6-42A2-4173-15F372383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486" y="5116721"/>
                <a:ext cx="1033346" cy="468285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to 81">
                <a:extLst>
                  <a:ext uri="{FF2B5EF4-FFF2-40B4-BE49-F238E27FC236}">
                    <a16:creationId xmlns:a16="http://schemas.microsoft.com/office/drawing/2014/main" id="{C8E673E7-A1C3-075B-CE8C-262699994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07328" y="5111559"/>
                <a:ext cx="1033661" cy="43642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25CBAC72-1A44-468A-1A88-1EB3583F2969}"/>
                  </a:ext>
                </a:extLst>
              </p:cNvPr>
              <p:cNvSpPr txBox="1"/>
              <p:nvPr/>
            </p:nvSpPr>
            <p:spPr>
              <a:xfrm>
                <a:off x="2583180" y="5141334"/>
                <a:ext cx="5478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img</a:t>
                </a:r>
                <a:endParaRPr lang="pt-B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84" name="Agrupar 83">
              <a:extLst>
                <a:ext uri="{FF2B5EF4-FFF2-40B4-BE49-F238E27FC236}">
                  <a16:creationId xmlns:a16="http://schemas.microsoft.com/office/drawing/2014/main" id="{1749A8A1-9F88-75B4-2B8F-86A407F37BE6}"/>
                </a:ext>
              </a:extLst>
            </p:cNvPr>
            <p:cNvGrpSpPr/>
            <p:nvPr/>
          </p:nvGrpSpPr>
          <p:grpSpPr>
            <a:xfrm>
              <a:off x="8129552" y="4504128"/>
              <a:ext cx="1043522" cy="475811"/>
              <a:chOff x="2397467" y="5109195"/>
              <a:chExt cx="1043522" cy="475811"/>
            </a:xfrm>
          </p:grpSpPr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7EA31E20-B98C-0A4C-001F-AFCE34F60E9C}"/>
                  </a:ext>
                </a:extLst>
              </p:cNvPr>
              <p:cNvSpPr txBox="1"/>
              <p:nvPr/>
            </p:nvSpPr>
            <p:spPr>
              <a:xfrm>
                <a:off x="2397467" y="5109195"/>
                <a:ext cx="1033346" cy="45897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dirty="0" err="1">
                    <a:solidFill>
                      <a:schemeClr val="bg1"/>
                    </a:solidFill>
                  </a:rPr>
                  <a:t>j</a:t>
                </a:r>
                <a:endParaRPr lang="pt-BR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6" name="Conector Reto 85">
                <a:extLst>
                  <a:ext uri="{FF2B5EF4-FFF2-40B4-BE49-F238E27FC236}">
                    <a16:creationId xmlns:a16="http://schemas.microsoft.com/office/drawing/2014/main" id="{A122BD6E-CAC2-BA05-4B3E-61FDC7E898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486" y="5116721"/>
                <a:ext cx="1033346" cy="468285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to 86">
                <a:extLst>
                  <a:ext uri="{FF2B5EF4-FFF2-40B4-BE49-F238E27FC236}">
                    <a16:creationId xmlns:a16="http://schemas.microsoft.com/office/drawing/2014/main" id="{2DFF3FD3-3F8D-4AA3-899F-DDD5BB7C5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07328" y="5111559"/>
                <a:ext cx="1033661" cy="43642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9686AB4F-20B5-4363-7259-8A0898221FA6}"/>
                  </a:ext>
                </a:extLst>
              </p:cNvPr>
              <p:cNvSpPr txBox="1"/>
              <p:nvPr/>
            </p:nvSpPr>
            <p:spPr>
              <a:xfrm>
                <a:off x="2583180" y="5141334"/>
                <a:ext cx="5478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img</a:t>
                </a:r>
                <a:endParaRPr lang="pt-B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89" name="Agrupar 88">
              <a:extLst>
                <a:ext uri="{FF2B5EF4-FFF2-40B4-BE49-F238E27FC236}">
                  <a16:creationId xmlns:a16="http://schemas.microsoft.com/office/drawing/2014/main" id="{BB89EF51-9584-E69E-2FB4-45E8790F4984}"/>
                </a:ext>
              </a:extLst>
            </p:cNvPr>
            <p:cNvGrpSpPr/>
            <p:nvPr/>
          </p:nvGrpSpPr>
          <p:grpSpPr>
            <a:xfrm>
              <a:off x="3020018" y="5455553"/>
              <a:ext cx="1760182" cy="338554"/>
              <a:chOff x="7710538" y="5300542"/>
              <a:chExt cx="1760182" cy="338554"/>
            </a:xfrm>
          </p:grpSpPr>
          <p:sp>
            <p:nvSpPr>
              <p:cNvPr id="90" name="Retângulo 89">
                <a:extLst>
                  <a:ext uri="{FF2B5EF4-FFF2-40B4-BE49-F238E27FC236}">
                    <a16:creationId xmlns:a16="http://schemas.microsoft.com/office/drawing/2014/main" id="{24C04F11-19DB-8CCD-DA74-F5AF25C9D02D}"/>
                  </a:ext>
                </a:extLst>
              </p:cNvPr>
              <p:cNvSpPr/>
              <p:nvPr/>
            </p:nvSpPr>
            <p:spPr>
              <a:xfrm>
                <a:off x="7710538" y="5364398"/>
                <a:ext cx="1760182" cy="252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D18C84D4-C7B7-F840-BC01-40CA150EEEBB}"/>
                  </a:ext>
                </a:extLst>
              </p:cNvPr>
              <p:cNvSpPr txBox="1"/>
              <p:nvPr/>
            </p:nvSpPr>
            <p:spPr>
              <a:xfrm>
                <a:off x="8281328" y="5300542"/>
                <a:ext cx="7956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vídeo</a:t>
                </a:r>
              </a:p>
            </p:txBody>
          </p:sp>
        </p:grp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017D29A1-5192-F806-23B8-EB062F062275}"/>
              </a:ext>
            </a:extLst>
          </p:cNvPr>
          <p:cNvSpPr/>
          <p:nvPr/>
        </p:nvSpPr>
        <p:spPr>
          <a:xfrm>
            <a:off x="5188770" y="5525710"/>
            <a:ext cx="1760182" cy="25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A5F174-1EC6-09D7-5B37-230BB258D6FF}"/>
              </a:ext>
            </a:extLst>
          </p:cNvPr>
          <p:cNvSpPr txBox="1"/>
          <p:nvPr/>
        </p:nvSpPr>
        <p:spPr>
          <a:xfrm>
            <a:off x="7703897" y="5460035"/>
            <a:ext cx="795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iframe</a:t>
            </a:r>
          </a:p>
        </p:txBody>
      </p:sp>
    </p:spTree>
    <p:extLst>
      <p:ext uri="{BB962C8B-B14F-4D97-AF65-F5344CB8AC3E}">
        <p14:creationId xmlns:p14="http://schemas.microsoft.com/office/powerpoint/2010/main" val="386486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89B8E-F8A5-82A0-E6DD-CBCB716C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80944"/>
          </a:xfrm>
          <a:solidFill>
            <a:srgbClr val="FFC000"/>
          </a:solidFill>
          <a:ln>
            <a:noFill/>
          </a:ln>
        </p:spPr>
        <p:txBody>
          <a:bodyPr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atividades</a:t>
            </a:r>
            <a:endParaRPr lang="pt-BR" sz="3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68680C-CF5E-0EFF-EA57-C3DE53718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722" y="1546260"/>
            <a:ext cx="5754556" cy="4865426"/>
          </a:xfrm>
        </p:spPr>
        <p:txBody>
          <a:bodyPr>
            <a:noAutofit/>
          </a:bodyPr>
          <a:lstStyle/>
          <a:p>
            <a:pPr marL="0" indent="0">
              <a:spcBef>
                <a:spcPts val="2200"/>
              </a:spcBef>
              <a:spcAft>
                <a:spcPts val="0"/>
              </a:spcAft>
              <a:buNone/>
            </a:pPr>
            <a:endParaRPr lang="en-US" sz="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812220"/>
                </a:solidFill>
              </a:rPr>
              <a:t>HTML5</a:t>
            </a:r>
          </a:p>
          <a:p>
            <a:pPr marL="0" indent="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partir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Frameware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esboço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fornecido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construa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página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básica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index.html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Crie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estrutura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básica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HTML5 e 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inclua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elementos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solicitados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en-US" sz="2400" b="1" dirty="0">
              <a:solidFill>
                <a:srgbClr val="812220"/>
              </a:solidFill>
            </a:endParaRPr>
          </a:p>
          <a:p>
            <a:pPr marL="0" indent="0" algn="ctr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812220"/>
                </a:solidFill>
              </a:rPr>
              <a:t>Obs.: </a:t>
            </a:r>
            <a:r>
              <a:rPr lang="en-US" dirty="0">
                <a:solidFill>
                  <a:srgbClr val="812220"/>
                </a:solidFill>
              </a:rPr>
              <a:t>Nessa </a:t>
            </a:r>
            <a:r>
              <a:rPr lang="en-US" dirty="0" err="1">
                <a:solidFill>
                  <a:srgbClr val="812220"/>
                </a:solidFill>
              </a:rPr>
              <a:t>avaliação</a:t>
            </a:r>
            <a:r>
              <a:rPr lang="en-US" dirty="0">
                <a:solidFill>
                  <a:srgbClr val="812220"/>
                </a:solidFill>
              </a:rPr>
              <a:t>, </a:t>
            </a:r>
            <a:r>
              <a:rPr lang="en-US" dirty="0" err="1">
                <a:solidFill>
                  <a:srgbClr val="812220"/>
                </a:solidFill>
              </a:rPr>
              <a:t>fica</a:t>
            </a:r>
            <a:r>
              <a:rPr lang="en-US" dirty="0">
                <a:solidFill>
                  <a:srgbClr val="812220"/>
                </a:solidFill>
              </a:rPr>
              <a:t> livre o </a:t>
            </a:r>
            <a:r>
              <a:rPr lang="en-US" dirty="0" err="1">
                <a:solidFill>
                  <a:srgbClr val="812220"/>
                </a:solidFill>
              </a:rPr>
              <a:t>uso</a:t>
            </a:r>
            <a:r>
              <a:rPr lang="en-US" dirty="0">
                <a:solidFill>
                  <a:srgbClr val="812220"/>
                </a:solidFill>
              </a:rPr>
              <a:t> de </a:t>
            </a:r>
            <a:r>
              <a:rPr lang="en-US" dirty="0" err="1">
                <a:solidFill>
                  <a:srgbClr val="812220"/>
                </a:solidFill>
              </a:rPr>
              <a:t>algum</a:t>
            </a:r>
            <a:r>
              <a:rPr lang="en-US" dirty="0">
                <a:solidFill>
                  <a:srgbClr val="812220"/>
                </a:solidFill>
              </a:rPr>
              <a:t> </a:t>
            </a:r>
          </a:p>
          <a:p>
            <a:pPr marL="0" indent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812220"/>
                </a:solidFill>
              </a:rPr>
              <a:t>estilo</a:t>
            </a:r>
            <a:r>
              <a:rPr lang="en-US" dirty="0">
                <a:solidFill>
                  <a:srgbClr val="812220"/>
                </a:solidFill>
              </a:rPr>
              <a:t> </a:t>
            </a:r>
            <a:r>
              <a:rPr lang="en-US" dirty="0" err="1">
                <a:solidFill>
                  <a:srgbClr val="812220"/>
                </a:solidFill>
              </a:rPr>
              <a:t>básico</a:t>
            </a:r>
            <a:r>
              <a:rPr lang="en-US" dirty="0">
                <a:solidFill>
                  <a:srgbClr val="812220"/>
                </a:solidFill>
              </a:rPr>
              <a:t> de CSS, se </a:t>
            </a:r>
            <a:r>
              <a:rPr lang="en-US" dirty="0" err="1">
                <a:solidFill>
                  <a:srgbClr val="812220"/>
                </a:solidFill>
              </a:rPr>
              <a:t>preferir</a:t>
            </a:r>
            <a:r>
              <a:rPr lang="en-US" dirty="0">
                <a:solidFill>
                  <a:srgbClr val="812220"/>
                </a:solidFill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endParaRPr lang="pt-BR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24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789B8E-F8A5-82A0-E6DD-CBCB716C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rgbClr val="812220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Saiba Mais...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68680C-CF5E-0EFF-EA57-C3DE53718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930" y="1402080"/>
            <a:ext cx="6357511" cy="405384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https://www.w3schools.com/html/default.asp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626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ista de cima da mesa de madeira com a planta, teclado branco, café em uma caneca branca, caderno de anotações e caneta">
            <a:extLst>
              <a:ext uri="{FF2B5EF4-FFF2-40B4-BE49-F238E27FC236}">
                <a16:creationId xmlns:a16="http://schemas.microsoft.com/office/drawing/2014/main" id="{9530BA73-83C9-A820-D97E-384794648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1" b="32385"/>
          <a:stretch/>
        </p:blipFill>
        <p:spPr>
          <a:xfrm>
            <a:off x="-2" y="0"/>
            <a:ext cx="12191977" cy="401477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1996B7-EFAD-8C6B-B8B7-928C07C144F6}"/>
              </a:ext>
            </a:extLst>
          </p:cNvPr>
          <p:cNvSpPr txBox="1"/>
          <p:nvPr/>
        </p:nvSpPr>
        <p:spPr>
          <a:xfrm>
            <a:off x="508000" y="462769"/>
            <a:ext cx="1068550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FEFFA1"/>
                </a:solidFill>
              </a:rPr>
              <a:t>ILP-049 </a:t>
            </a:r>
            <a:r>
              <a:rPr lang="pt-BR" sz="4400" dirty="0"/>
              <a:t>-</a:t>
            </a:r>
            <a:r>
              <a:rPr lang="pt-BR" sz="4400" dirty="0">
                <a:solidFill>
                  <a:srgbClr val="FEFFA1"/>
                </a:solidFill>
              </a:rPr>
              <a:t> </a:t>
            </a:r>
            <a:r>
              <a:rPr lang="pt-BR" sz="4400" i="1" dirty="0"/>
              <a:t>Linguagem de Programação</a:t>
            </a:r>
          </a:p>
          <a:p>
            <a:pPr algn="ctr">
              <a:spcBef>
                <a:spcPts val="5400"/>
              </a:spcBef>
            </a:pPr>
            <a:r>
              <a:rPr lang="pt-BR" sz="4800" b="1" dirty="0">
                <a:solidFill>
                  <a:srgbClr val="FEFFA1"/>
                </a:solidFill>
              </a:rPr>
              <a:t>      </a:t>
            </a:r>
            <a:r>
              <a:rPr lang="pt-BR" sz="5000" b="1" dirty="0">
                <a:solidFill>
                  <a:srgbClr val="FEFFA1"/>
                </a:solidFill>
              </a:rPr>
              <a:t>Desenvolvimento de Sites     </a:t>
            </a:r>
          </a:p>
          <a:p>
            <a:pPr algn="ctr"/>
            <a:r>
              <a:rPr lang="pt-BR" sz="5000" b="1" dirty="0">
                <a:solidFill>
                  <a:srgbClr val="FEFFA1"/>
                </a:solidFill>
              </a:rPr>
              <a:t>     para a Internet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B8A2BC3-A5DC-7514-3C1A-57CCA936D69A}"/>
              </a:ext>
            </a:extLst>
          </p:cNvPr>
          <p:cNvSpPr txBox="1">
            <a:spLocks/>
          </p:cNvSpPr>
          <p:nvPr/>
        </p:nvSpPr>
        <p:spPr bwMode="blackWhite">
          <a:xfrm>
            <a:off x="508000" y="4535488"/>
            <a:ext cx="4690675" cy="18542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pt-BR" sz="2200" dirty="0"/>
              <a:t>FINAL DA </a:t>
            </a:r>
            <a:r>
              <a:rPr lang="pt-BR" sz="2200" b="1" dirty="0"/>
              <a:t>AVA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b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1" dirty="0"/>
              <a:t>HTML5 </a:t>
            </a:r>
            <a:r>
              <a:rPr lang="pt-BR" sz="2800" dirty="0"/>
              <a:t>(Básico)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C1772C3B-EC65-9B16-FCFC-481B3A856503}"/>
              </a:ext>
            </a:extLst>
          </p:cNvPr>
          <p:cNvSpPr txBox="1">
            <a:spLocks/>
          </p:cNvSpPr>
          <p:nvPr/>
        </p:nvSpPr>
        <p:spPr>
          <a:xfrm>
            <a:off x="6654801" y="4602163"/>
            <a:ext cx="5108013" cy="172085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pt-BR" sz="2600" b="1" dirty="0"/>
              <a:t>FATEC-SP</a:t>
            </a:r>
          </a:p>
          <a:p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Profa. Elisabete da Silva Santos</a:t>
            </a:r>
            <a:endParaRPr lang="pt-BR" sz="2400" b="1" i="1" dirty="0"/>
          </a:p>
        </p:txBody>
      </p:sp>
    </p:spTree>
    <p:extLst>
      <p:ext uri="{BB962C8B-B14F-4D97-AF65-F5344CB8AC3E}">
        <p14:creationId xmlns:p14="http://schemas.microsoft.com/office/powerpoint/2010/main" val="479951952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ersonalizar 5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{A97F3EB7-232D-D84E-8E3C-7B0EBD5EB9E1}tf10001120</Template>
  <TotalTime>45684</TotalTime>
  <Words>218</Words>
  <Application>Microsoft Office PowerPoint</Application>
  <PresentationFormat>Widescreen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Pacote</vt:lpstr>
      <vt:lpstr>AVALIAÇÃO DE HTML5 (Básico) </vt:lpstr>
      <vt:lpstr>AVA01</vt:lpstr>
      <vt:lpstr>Apresentação do PowerPoint</vt:lpstr>
      <vt:lpstr>atividades</vt:lpstr>
      <vt:lpstr>Saiba Mais...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ProfESSORA Elisabete da silva santos</dc:title>
  <dc:creator>beteweb@gmail.com</dc:creator>
  <cp:lastModifiedBy>Davi Campaner Fernandes</cp:lastModifiedBy>
  <cp:revision>580</cp:revision>
  <dcterms:created xsi:type="dcterms:W3CDTF">2024-01-23T18:14:10Z</dcterms:created>
  <dcterms:modified xsi:type="dcterms:W3CDTF">2026-04-23T15:26:32Z</dcterms:modified>
</cp:coreProperties>
</file>